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4000" y="101600"/>
            <a:ext cx="8636000" cy="1219200"/>
          </a:xfrm>
          <a:prstGeom prst="roundRect">
            <a:avLst>
              <a:gd name="adj" fmla="val 6000"/>
            </a:avLst>
          </a:prstGeom>
          <a:solidFill>
            <a:srgbClr val="DDD0E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4000" y="1473200"/>
            <a:ext cx="8636000" cy="914400"/>
          </a:xfrm>
          <a:prstGeom prst="roundRect">
            <a:avLst>
              <a:gd name="adj" fmla="val 6000"/>
            </a:avLst>
          </a:prstGeom>
          <a:solidFill>
            <a:srgbClr val="F1D7E4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4000" y="2540000"/>
            <a:ext cx="8636000" cy="1219200"/>
          </a:xfrm>
          <a:prstGeom prst="roundRect">
            <a:avLst>
              <a:gd name="adj" fmla="val 6000"/>
            </a:avLst>
          </a:prstGeom>
          <a:solidFill>
            <a:srgbClr val="FEE4DF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4000" y="3911600"/>
            <a:ext cx="8636000" cy="787400"/>
          </a:xfrm>
          <a:prstGeom prst="roundRect">
            <a:avLst>
              <a:gd name="adj" fmla="val 6000"/>
            </a:avLst>
          </a:prstGeom>
          <a:solidFill>
            <a:srgbClr val="D8D8D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400" y="101600"/>
            <a:ext cx="1270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54137D"/>
                </a:solidFill>
                <a:latin typeface="Roboto"/>
              </a:rPr>
              <a:t>1  ESPECTRAL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1473200"/>
            <a:ext cx="127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B73779"/>
                </a:solidFill>
                <a:latin typeface="Roboto"/>
              </a:rPr>
              <a:t>2  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2540000"/>
            <a:ext cx="1270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9795D"/>
                </a:solidFill>
                <a:latin typeface="Roboto"/>
              </a:rPr>
              <a:t>3  ESPACIAL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3911600"/>
            <a:ext cx="1270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3A3A3A"/>
                </a:solidFill>
                <a:latin typeface="Roboto"/>
              </a:rPr>
              <a:t>PRODUCTOS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03200"/>
            <a:ext cx="2159000" cy="4826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Landsat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6 bandas ópticas · 11 índices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762000"/>
            <a:ext cx="2159000" cy="4826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MapBiomas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Cobertura y mosaico del año previo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1800" y="419100"/>
            <a:ext cx="20320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4137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Clasificador probabilístico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regresión logística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7800" y="419100"/>
            <a:ext cx="2209800" cy="584200"/>
          </a:xfrm>
          <a:prstGeom prst="roundRect">
            <a:avLst>
              <a:gd name="adj" fmla="val 14000"/>
            </a:avLst>
          </a:prstGeom>
          <a:solidFill>
            <a:srgbClr val="54137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Probabilidad de quema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para cada píxel y fecha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87800" y="444500"/>
            <a:ext cx="254000" cy="1651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3987800" y="812800"/>
            <a:ext cx="254000" cy="1905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273800" y="7112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1828800" y="1638300"/>
            <a:ext cx="2159000" cy="584200"/>
          </a:xfrm>
          <a:prstGeom prst="roundRect">
            <a:avLst>
              <a:gd name="adj" fmla="val 14000"/>
            </a:avLst>
          </a:prstGeom>
          <a:solidFill>
            <a:srgbClr val="E7BBD1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Serie temporal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todas las observaciones del píxel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1800" y="1638300"/>
            <a:ext cx="20320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73779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Resumen anual de la serie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por píxel y año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7800" y="1638300"/>
            <a:ext cx="2209800" cy="584200"/>
          </a:xfrm>
          <a:prstGeom prst="roundRect">
            <a:avLst>
              <a:gd name="adj" fmla="val 14000"/>
            </a:avLst>
          </a:prstGeom>
          <a:solidFill>
            <a:srgbClr val="B73779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Métricas anuales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prob. alta · aumento abrupto ·
persistencia · fecha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7800" y="19304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6273800" y="19304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7632700" y="1003300"/>
            <a:ext cx="0" cy="39370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H="1">
            <a:off x="2908300" y="1397000"/>
            <a:ext cx="4724400" cy="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908300" y="1397000"/>
            <a:ext cx="0" cy="241300"/>
          </a:xfrm>
          <a:prstGeom prst="line">
            <a:avLst/>
          </a:prstGeom>
          <a:ln w="12700">
            <a:solidFill>
              <a:srgbClr val="54137D"/>
            </a:solidFill>
            <a:tailEnd type="triangle" w="med" len="med"/>
          </a:ln>
          <a:effectLst/>
        </p:spPr>
      </p:cxnSp>
      <p:sp>
        <p:nvSpPr>
          <p:cNvPr id="25" name="Rounded Rectangle 24"/>
          <p:cNvSpPr/>
          <p:nvPr/>
        </p:nvSpPr>
        <p:spPr>
          <a:xfrm>
            <a:off x="1828800" y="2667000"/>
            <a:ext cx="2159000" cy="4318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Semillas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píxeles claramente quemados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200400"/>
            <a:ext cx="2159000" cy="4318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Candidatos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píxeles plausiblemente quemados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1800" y="2641600"/>
            <a:ext cx="2032000" cy="431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Crecimiento de región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SNIC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1800" y="3225800"/>
            <a:ext cx="2032000" cy="431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Clasificador de objetos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forma · tamaño · vegetación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7800" y="2870200"/>
            <a:ext cx="2209800" cy="558800"/>
          </a:xfrm>
          <a:prstGeom prst="roundRect">
            <a:avLst>
              <a:gd name="adj" fmla="val 14000"/>
            </a:avLst>
          </a:prstGeom>
          <a:solidFill>
            <a:srgbClr val="F9795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Cicatrices de fuego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1,01 M de incendios, 1999–2025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987800" y="2806700"/>
            <a:ext cx="254000" cy="762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3987800" y="2959100"/>
            <a:ext cx="254000" cy="4572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257800" y="3073400"/>
            <a:ext cx="0" cy="1524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6273800" y="3251200"/>
            <a:ext cx="254000" cy="1905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632700" y="2222500"/>
            <a:ext cx="0" cy="24130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2908300" y="2463800"/>
            <a:ext cx="4724400" cy="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2908300" y="2463800"/>
            <a:ext cx="0" cy="203200"/>
          </a:xfrm>
          <a:prstGeom prst="line">
            <a:avLst/>
          </a:prstGeom>
          <a:ln w="12700">
            <a:solidFill>
              <a:srgbClr val="B73779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1828800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Área quemada anual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92966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Mes de quema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57133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Frecuencia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21300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Acumulado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85466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Año del último fuego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49633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Tamaño de la cicatriz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470400"/>
            <a:ext cx="584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0" i="1">
                <a:solidFill>
                  <a:srgbClr val="6B6B6B"/>
                </a:solidFill>
                <a:latin typeface="Roboto"/>
              </a:rPr>
              <a:t>+ base vectorial: cada incendio como polígono, con su probabilidad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32700" y="3429000"/>
            <a:ext cx="0" cy="495300"/>
          </a:xfrm>
          <a:prstGeom prst="line">
            <a:avLst/>
          </a:prstGeom>
          <a:ln w="12700">
            <a:solidFill>
              <a:srgbClr val="F9795D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4000" y="101600"/>
            <a:ext cx="8636000" cy="1219200"/>
          </a:xfrm>
          <a:prstGeom prst="roundRect">
            <a:avLst>
              <a:gd name="adj" fmla="val 6000"/>
            </a:avLst>
          </a:prstGeom>
          <a:solidFill>
            <a:srgbClr val="E0D2D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4000" y="1473200"/>
            <a:ext cx="8636000" cy="914400"/>
          </a:xfrm>
          <a:prstGeom prst="roundRect">
            <a:avLst>
              <a:gd name="adj" fmla="val 6000"/>
            </a:avLst>
          </a:prstGeom>
          <a:solidFill>
            <a:srgbClr val="F5D1D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4000" y="2540000"/>
            <a:ext cx="8636000" cy="1219200"/>
          </a:xfrm>
          <a:prstGeom prst="roundRect">
            <a:avLst>
              <a:gd name="adj" fmla="val 6000"/>
            </a:avLst>
          </a:prstGeom>
          <a:solidFill>
            <a:srgbClr val="FDE4D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4000" y="3911600"/>
            <a:ext cx="8636000" cy="787400"/>
          </a:xfrm>
          <a:prstGeom prst="roundRect">
            <a:avLst>
              <a:gd name="adj" fmla="val 6000"/>
            </a:avLst>
          </a:prstGeom>
          <a:solidFill>
            <a:srgbClr val="D8D8D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400" y="101600"/>
            <a:ext cx="1270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641F54"/>
                </a:solidFill>
                <a:latin typeface="Roboto"/>
              </a:rPr>
              <a:t>1  ESPECTRAL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1473200"/>
            <a:ext cx="127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CB1B4F"/>
                </a:solidFill>
                <a:latin typeface="Roboto"/>
              </a:rPr>
              <a:t>2  TEMPORAL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2540000"/>
            <a:ext cx="1270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47A54"/>
                </a:solidFill>
                <a:latin typeface="Roboto"/>
              </a:rPr>
              <a:t>3  ESPACIAL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3911600"/>
            <a:ext cx="1270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3A3A3A"/>
                </a:solidFill>
                <a:latin typeface="Roboto"/>
              </a:rPr>
              <a:t>PRODUCTOS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03200"/>
            <a:ext cx="2159000" cy="482600"/>
          </a:xfrm>
          <a:prstGeom prst="roundRect">
            <a:avLst>
              <a:gd name="adj" fmla="val 14000"/>
            </a:avLst>
          </a:prstGeom>
          <a:solidFill>
            <a:srgbClr val="CAB3C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Landsat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6 bandas ópticas · 11 índices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762000"/>
            <a:ext cx="2159000" cy="482600"/>
          </a:xfrm>
          <a:prstGeom prst="roundRect">
            <a:avLst>
              <a:gd name="adj" fmla="val 14000"/>
            </a:avLst>
          </a:prstGeom>
          <a:solidFill>
            <a:srgbClr val="CAB3C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MapBiomas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Cobertura y mosaico del año previo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1800" y="419100"/>
            <a:ext cx="20320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41F54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Clasificador probabilístico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regresión logística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7800" y="419100"/>
            <a:ext cx="2209800" cy="584200"/>
          </a:xfrm>
          <a:prstGeom prst="roundRect">
            <a:avLst>
              <a:gd name="adj" fmla="val 14000"/>
            </a:avLst>
          </a:prstGeom>
          <a:solidFill>
            <a:srgbClr val="641F54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Probabilidad de quema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para cada píxel y fecha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87800" y="444500"/>
            <a:ext cx="254000" cy="1651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3987800" y="812800"/>
            <a:ext cx="254000" cy="1905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273800" y="7112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1828800" y="1638300"/>
            <a:ext cx="2159000" cy="584200"/>
          </a:xfrm>
          <a:prstGeom prst="roundRect">
            <a:avLst>
              <a:gd name="adj" fmla="val 14000"/>
            </a:avLst>
          </a:prstGeom>
          <a:solidFill>
            <a:srgbClr val="EDB1C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Serie temporal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todas las observaciones del píxel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1800" y="1638300"/>
            <a:ext cx="2032000" cy="584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B1B4F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Resumen anual de la serie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por píxel y año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7800" y="1638300"/>
            <a:ext cx="2209800" cy="584200"/>
          </a:xfrm>
          <a:prstGeom prst="roundRect">
            <a:avLst>
              <a:gd name="adj" fmla="val 14000"/>
            </a:avLst>
          </a:prstGeom>
          <a:solidFill>
            <a:srgbClr val="CB1B4F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Métricas anuales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prob. alta · aumento abrupto ·
persistencia · fecha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87800" y="19304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6273800" y="1930400"/>
            <a:ext cx="2540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7632700" y="1003300"/>
            <a:ext cx="0" cy="393700"/>
          </a:xfrm>
          <a:prstGeom prst="line">
            <a:avLst/>
          </a:prstGeom>
          <a:ln w="12700">
            <a:solidFill>
              <a:srgbClr val="641F54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 flipH="1">
            <a:off x="2908300" y="1397000"/>
            <a:ext cx="4724400" cy="0"/>
          </a:xfrm>
          <a:prstGeom prst="line">
            <a:avLst/>
          </a:prstGeom>
          <a:ln w="12700">
            <a:solidFill>
              <a:srgbClr val="641F54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2908300" y="1397000"/>
            <a:ext cx="0" cy="241300"/>
          </a:xfrm>
          <a:prstGeom prst="line">
            <a:avLst/>
          </a:prstGeom>
          <a:ln w="12700">
            <a:solidFill>
              <a:srgbClr val="641F54"/>
            </a:solidFill>
            <a:tailEnd type="triangle" w="med" len="med"/>
          </a:ln>
          <a:effectLst/>
        </p:spPr>
      </p:cxnSp>
      <p:sp>
        <p:nvSpPr>
          <p:cNvPr id="25" name="Rounded Rectangle 24"/>
          <p:cNvSpPr/>
          <p:nvPr/>
        </p:nvSpPr>
        <p:spPr>
          <a:xfrm>
            <a:off x="1828800" y="2667000"/>
            <a:ext cx="2159000" cy="431800"/>
          </a:xfrm>
          <a:prstGeom prst="roundRect">
            <a:avLst>
              <a:gd name="adj" fmla="val 14000"/>
            </a:avLst>
          </a:prstGeom>
          <a:solidFill>
            <a:srgbClr val="FBD2C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Semillas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píxeles claramente quemados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200400"/>
            <a:ext cx="2159000" cy="431800"/>
          </a:xfrm>
          <a:prstGeom prst="roundRect">
            <a:avLst>
              <a:gd name="adj" fmla="val 14000"/>
            </a:avLst>
          </a:prstGeom>
          <a:solidFill>
            <a:srgbClr val="FBD2C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Candidatos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4A4A"/>
                </a:solidFill>
                <a:latin typeface="Roboto"/>
              </a:rPr>
              <a:t>píxeles plausiblemente quemados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1800" y="2641600"/>
            <a:ext cx="2032000" cy="431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47A54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Crecimiento de región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SNIC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1800" y="3225800"/>
            <a:ext cx="2032000" cy="431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47A54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1A1A1A"/>
                </a:solidFill>
                <a:latin typeface="Roboto"/>
              </a:rPr>
              <a:t>Clasificador de objetos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1">
                <a:solidFill>
                  <a:srgbClr val="4A4A4A"/>
                </a:solidFill>
                <a:latin typeface="Roboto"/>
              </a:rPr>
              <a:t>forma · tamaño · vegetación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7800" y="2870200"/>
            <a:ext cx="2209800" cy="558800"/>
          </a:xfrm>
          <a:prstGeom prst="roundRect">
            <a:avLst>
              <a:gd name="adj" fmla="val 14000"/>
            </a:avLst>
          </a:prstGeom>
          <a:solidFill>
            <a:srgbClr val="F47A54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Roboto"/>
              </a:rPr>
              <a:t>Cicatrices de fuego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1,01 M de incendios, 1999–2025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987800" y="2806700"/>
            <a:ext cx="254000" cy="762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3987800" y="2959100"/>
            <a:ext cx="254000" cy="4572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257800" y="3073400"/>
            <a:ext cx="0" cy="1524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6273800" y="3251200"/>
            <a:ext cx="254000" cy="1905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7632700" y="2222500"/>
            <a:ext cx="0" cy="241300"/>
          </a:xfrm>
          <a:prstGeom prst="line">
            <a:avLst/>
          </a:prstGeom>
          <a:ln w="12700">
            <a:solidFill>
              <a:srgbClr val="CB1B4F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 flipH="1">
            <a:off x="2908300" y="2463800"/>
            <a:ext cx="4724400" cy="0"/>
          </a:xfrm>
          <a:prstGeom prst="line">
            <a:avLst/>
          </a:prstGeom>
          <a:ln w="12700">
            <a:solidFill>
              <a:srgbClr val="CB1B4F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2908300" y="2463800"/>
            <a:ext cx="0" cy="203200"/>
          </a:xfrm>
          <a:prstGeom prst="line">
            <a:avLst/>
          </a:prstGeom>
          <a:ln w="12700">
            <a:solidFill>
              <a:srgbClr val="CB1B4F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1828800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Área quemada anual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92966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Mes de quema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57133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Frecuencia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21300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Acumulado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85466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Año del último fuego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49633" y="4013200"/>
            <a:ext cx="1087966" cy="4064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A1A1A"/>
                </a:solidFill>
                <a:latin typeface="Roboto"/>
              </a:rPr>
              <a:t>Tamaño de la cicatriz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470400"/>
            <a:ext cx="584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0" i="1">
                <a:solidFill>
                  <a:srgbClr val="6B6B6B"/>
                </a:solidFill>
                <a:latin typeface="Roboto"/>
              </a:rPr>
              <a:t>+ base vectorial: cada incendio como polígono, con su probabilidad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32700" y="3429000"/>
            <a:ext cx="0" cy="495300"/>
          </a:xfrm>
          <a:prstGeom prst="line">
            <a:avLst/>
          </a:prstGeom>
          <a:ln w="12700">
            <a:solidFill>
              <a:srgbClr val="F47A54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