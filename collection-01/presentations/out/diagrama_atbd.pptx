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724400" cy="5664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" y="127000"/>
            <a:ext cx="4572000" cy="1397000"/>
          </a:xfrm>
          <a:prstGeom prst="roundRect">
            <a:avLst>
              <a:gd name="adj" fmla="val 6000"/>
            </a:avLst>
          </a:prstGeom>
          <a:solidFill>
            <a:srgbClr val="DDD0E5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" y="1600200"/>
            <a:ext cx="4572000" cy="1092200"/>
          </a:xfrm>
          <a:prstGeom prst="roundRect">
            <a:avLst>
              <a:gd name="adj" fmla="val 6000"/>
            </a:avLst>
          </a:prstGeom>
          <a:solidFill>
            <a:srgbClr val="F1D7E4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" y="2768600"/>
            <a:ext cx="4572000" cy="1397000"/>
          </a:xfrm>
          <a:prstGeom prst="roundRect">
            <a:avLst>
              <a:gd name="adj" fmla="val 6000"/>
            </a:avLst>
          </a:prstGeom>
          <a:solidFill>
            <a:srgbClr val="FEE4DF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" y="4241800"/>
            <a:ext cx="4572000" cy="1295400"/>
          </a:xfrm>
          <a:prstGeom prst="roundRect">
            <a:avLst>
              <a:gd name="adj" fmla="val 6000"/>
            </a:avLst>
          </a:prstGeom>
          <a:solidFill>
            <a:srgbClr val="D8D8D8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" y="152400"/>
            <a:ext cx="457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i="0">
                <a:solidFill>
                  <a:srgbClr val="54137D"/>
                </a:solidFill>
                <a:latin typeface="Roboto"/>
              </a:rPr>
              <a:t>1  ESPECTRAL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" y="330200"/>
            <a:ext cx="1456266" cy="508000"/>
          </a:xfrm>
          <a:prstGeom prst="roundRect">
            <a:avLst>
              <a:gd name="adj" fmla="val 14000"/>
            </a:avLst>
          </a:prstGeom>
          <a:solidFill>
            <a:srgbClr val="C5AFD3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Landsat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4A4A4A"/>
                </a:solidFill>
                <a:latin typeface="Roboto"/>
              </a:rPr>
              <a:t>6 bandas opticas, 11 indices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" y="889000"/>
            <a:ext cx="1456266" cy="508000"/>
          </a:xfrm>
          <a:prstGeom prst="roundRect">
            <a:avLst>
              <a:gd name="adj" fmla="val 14000"/>
            </a:avLst>
          </a:prstGeom>
          <a:solidFill>
            <a:srgbClr val="C5AFD3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MapBiomas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4A4A4A"/>
                </a:solidFill>
                <a:latin typeface="Roboto"/>
              </a:rPr>
              <a:t>Cobertura y mosaico del ano previo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34066" y="508000"/>
            <a:ext cx="1456266" cy="711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54137D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Clasificador probabilistico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1">
                <a:solidFill>
                  <a:srgbClr val="4A4A4A"/>
                </a:solidFill>
                <a:latin typeface="Roboto"/>
              </a:rPr>
              <a:t>regresion logistica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91933" y="508000"/>
            <a:ext cx="1456266" cy="711200"/>
          </a:xfrm>
          <a:prstGeom prst="roundRect">
            <a:avLst>
              <a:gd name="adj" fmla="val 14000"/>
            </a:avLst>
          </a:prstGeom>
          <a:solidFill>
            <a:srgbClr val="54137D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FFFFFF"/>
                </a:solidFill>
                <a:latin typeface="Roboto"/>
              </a:rPr>
              <a:t>Probabilidad de quema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FFFFFF"/>
                </a:solidFill>
                <a:latin typeface="Roboto"/>
              </a:rPr>
              <a:t>por pixel y fecha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32466" y="584200"/>
            <a:ext cx="101600" cy="13716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1532466" y="1005839"/>
            <a:ext cx="101600" cy="137161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3090333" y="863600"/>
            <a:ext cx="1016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76200" y="1625600"/>
            <a:ext cx="457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i="0">
                <a:solidFill>
                  <a:srgbClr val="B73779"/>
                </a:solidFill>
                <a:latin typeface="Roboto"/>
              </a:rPr>
              <a:t>2  TEMPORAL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" y="1803400"/>
            <a:ext cx="1456266" cy="762000"/>
          </a:xfrm>
          <a:prstGeom prst="roundRect">
            <a:avLst>
              <a:gd name="adj" fmla="val 14000"/>
            </a:avLst>
          </a:prstGeom>
          <a:solidFill>
            <a:srgbClr val="E7BBD1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Serie temporal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4A4A4A"/>
                </a:solidFill>
                <a:latin typeface="Roboto"/>
              </a:rPr>
              <a:t>todas las observaciones del pixel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34066" y="1803400"/>
            <a:ext cx="1456266" cy="762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73779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Resumen anual de la serie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1">
                <a:solidFill>
                  <a:srgbClr val="4A4A4A"/>
                </a:solidFill>
                <a:latin typeface="Roboto"/>
              </a:rPr>
              <a:t>por pixel y ano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91933" y="1803400"/>
            <a:ext cx="1456266" cy="762000"/>
          </a:xfrm>
          <a:prstGeom prst="roundRect">
            <a:avLst>
              <a:gd name="adj" fmla="val 14000"/>
            </a:avLst>
          </a:prstGeom>
          <a:solidFill>
            <a:srgbClr val="B73779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FFFFFF"/>
                </a:solidFill>
                <a:latin typeface="Roboto"/>
              </a:rPr>
              <a:t>Metricas anuales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FFFFFF"/>
                </a:solidFill>
                <a:latin typeface="Roboto"/>
              </a:rPr>
              <a:t>prob. alta - aumento abrupto -
persistencia - fecha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532466" y="2184400"/>
            <a:ext cx="1016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3090333" y="2184400"/>
            <a:ext cx="1016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3920066" y="863600"/>
            <a:ext cx="0" cy="698500"/>
          </a:xfrm>
          <a:prstGeom prst="line">
            <a:avLst/>
          </a:prstGeom>
          <a:ln w="12700">
            <a:solidFill>
              <a:srgbClr val="54137D"/>
            </a:solidFill>
          </a:ln>
          <a:effectLst/>
        </p:spPr>
      </p:cxnSp>
      <p:cxnSp>
        <p:nvCxnSpPr>
          <p:cNvPr id="21" name="Connector 20"/>
          <p:cNvCxnSpPr/>
          <p:nvPr/>
        </p:nvCxnSpPr>
        <p:spPr>
          <a:xfrm flipH="1">
            <a:off x="804333" y="1562100"/>
            <a:ext cx="3115733" cy="0"/>
          </a:xfrm>
          <a:prstGeom prst="line">
            <a:avLst/>
          </a:prstGeom>
          <a:ln w="12700">
            <a:solidFill>
              <a:srgbClr val="54137D"/>
            </a:solidFill>
          </a:ln>
          <a:effectLst/>
        </p:spPr>
      </p:cxnSp>
      <p:cxnSp>
        <p:nvCxnSpPr>
          <p:cNvPr id="22" name="Connector 21"/>
          <p:cNvCxnSpPr/>
          <p:nvPr/>
        </p:nvCxnSpPr>
        <p:spPr>
          <a:xfrm>
            <a:off x="804333" y="1562100"/>
            <a:ext cx="0" cy="241300"/>
          </a:xfrm>
          <a:prstGeom prst="line">
            <a:avLst/>
          </a:prstGeom>
          <a:ln w="12700">
            <a:solidFill>
              <a:srgbClr val="54137D"/>
            </a:solidFill>
            <a:tailEnd type="triangle" w="med" len="med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76200" y="2794000"/>
            <a:ext cx="457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i="0">
                <a:solidFill>
                  <a:srgbClr val="F9795D"/>
                </a:solidFill>
                <a:latin typeface="Roboto"/>
              </a:rPr>
              <a:t>3  ESPACIAL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" y="2971800"/>
            <a:ext cx="1456266" cy="508000"/>
          </a:xfrm>
          <a:prstGeom prst="roundRect">
            <a:avLst>
              <a:gd name="adj" fmla="val 14000"/>
            </a:avLst>
          </a:prstGeom>
          <a:solidFill>
            <a:srgbClr val="FDD1C8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Semillas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4A4A4A"/>
                </a:solidFill>
                <a:latin typeface="Roboto"/>
              </a:rPr>
              <a:t>pixeles claramente quemados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200" y="3530600"/>
            <a:ext cx="1456266" cy="508000"/>
          </a:xfrm>
          <a:prstGeom prst="roundRect">
            <a:avLst>
              <a:gd name="adj" fmla="val 14000"/>
            </a:avLst>
          </a:prstGeom>
          <a:solidFill>
            <a:srgbClr val="FDD1C8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Candidatos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4A4A4A"/>
                </a:solidFill>
                <a:latin typeface="Roboto"/>
              </a:rPr>
              <a:t>pixeles plausiblemente quemados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34066" y="2971800"/>
            <a:ext cx="1456266" cy="508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9795D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Crecimiento de region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1">
                <a:solidFill>
                  <a:srgbClr val="4A4A4A"/>
                </a:solidFill>
                <a:latin typeface="Roboto"/>
              </a:rPr>
              <a:t>SNIC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34066" y="3530600"/>
            <a:ext cx="1456266" cy="508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9795D"/>
            </a:solidFill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1A1A1A"/>
                </a:solidFill>
                <a:latin typeface="Roboto"/>
              </a:rPr>
              <a:t>Clasificador de objetos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1">
                <a:solidFill>
                  <a:srgbClr val="4A4A4A"/>
                </a:solidFill>
                <a:latin typeface="Roboto"/>
              </a:rPr>
              <a:t>forma, tamano, vegetacion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191933" y="3149600"/>
            <a:ext cx="1456266" cy="711200"/>
          </a:xfrm>
          <a:prstGeom prst="roundRect">
            <a:avLst>
              <a:gd name="adj" fmla="val 14000"/>
            </a:avLst>
          </a:prstGeom>
          <a:solidFill>
            <a:srgbClr val="F9795D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800" b="1" i="0">
                <a:solidFill>
                  <a:srgbClr val="FFFFFF"/>
                </a:solidFill>
                <a:latin typeface="Roboto"/>
              </a:rPr>
              <a:t>Cicatrices de fuego</a:t>
            </a:r>
          </a:p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650" b="0" i="0">
                <a:solidFill>
                  <a:srgbClr val="FFFFFF"/>
                </a:solidFill>
                <a:latin typeface="Roboto"/>
              </a:rPr>
              <a:t>1,01 M de incendios, 1999-2025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532466" y="3225800"/>
            <a:ext cx="1016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1532466" y="3784600"/>
            <a:ext cx="101600" cy="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1" name="Connector 30"/>
          <p:cNvCxnSpPr/>
          <p:nvPr/>
        </p:nvCxnSpPr>
        <p:spPr>
          <a:xfrm>
            <a:off x="2362200" y="3479800"/>
            <a:ext cx="0" cy="5080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3090333" y="3647440"/>
            <a:ext cx="101600" cy="137160"/>
          </a:xfrm>
          <a:prstGeom prst="line">
            <a:avLst/>
          </a:prstGeom>
          <a:ln w="12700">
            <a:solidFill>
              <a:srgbClr val="7A7A7A"/>
            </a:solidFill>
            <a:tailEnd type="triangle" w="med" len="med"/>
          </a:ln>
          <a:effectLst/>
        </p:spPr>
      </p:cxnSp>
      <p:cxnSp>
        <p:nvCxnSpPr>
          <p:cNvPr id="33" name="Connector 32"/>
          <p:cNvCxnSpPr/>
          <p:nvPr/>
        </p:nvCxnSpPr>
        <p:spPr>
          <a:xfrm>
            <a:off x="3920066" y="2565400"/>
            <a:ext cx="0" cy="165100"/>
          </a:xfrm>
          <a:prstGeom prst="line">
            <a:avLst/>
          </a:prstGeom>
          <a:ln w="12700">
            <a:solidFill>
              <a:srgbClr val="B73779"/>
            </a:solidFill>
          </a:ln>
          <a:effectLst/>
        </p:spPr>
      </p:cxnSp>
      <p:cxnSp>
        <p:nvCxnSpPr>
          <p:cNvPr id="34" name="Connector 33"/>
          <p:cNvCxnSpPr/>
          <p:nvPr/>
        </p:nvCxnSpPr>
        <p:spPr>
          <a:xfrm flipH="1">
            <a:off x="804333" y="2730500"/>
            <a:ext cx="3115733" cy="0"/>
          </a:xfrm>
          <a:prstGeom prst="line">
            <a:avLst/>
          </a:prstGeom>
          <a:ln w="12700">
            <a:solidFill>
              <a:srgbClr val="B73779"/>
            </a:solidFill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804333" y="2730500"/>
            <a:ext cx="0" cy="241300"/>
          </a:xfrm>
          <a:prstGeom prst="line">
            <a:avLst/>
          </a:prstGeom>
          <a:ln w="12700">
            <a:solidFill>
              <a:srgbClr val="B73779"/>
            </a:solidFill>
            <a:tailEnd type="triangle" w="med" len="med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76200" y="4267200"/>
            <a:ext cx="457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i="0">
                <a:solidFill>
                  <a:srgbClr val="3A3A3A"/>
                </a:solidFill>
                <a:latin typeface="Roboto"/>
              </a:rPr>
              <a:t>PRODUCTOS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200" y="4445000"/>
            <a:ext cx="1473200" cy="3302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700" b="0" i="0">
                <a:solidFill>
                  <a:srgbClr val="1A1A1A"/>
                </a:solidFill>
                <a:latin typeface="Roboto"/>
              </a:rPr>
              <a:t>Área quemada anual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25600" y="4445000"/>
            <a:ext cx="1473200" cy="3302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700" b="0" i="0">
                <a:solidFill>
                  <a:srgbClr val="1A1A1A"/>
                </a:solidFill>
                <a:latin typeface="Roboto"/>
              </a:rPr>
              <a:t>Mes de quema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175000" y="4445000"/>
            <a:ext cx="1473200" cy="3302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700" b="0" i="0">
                <a:solidFill>
                  <a:srgbClr val="1A1A1A"/>
                </a:solidFill>
                <a:latin typeface="Roboto"/>
              </a:rPr>
              <a:t>Frecuencia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200" y="4826000"/>
            <a:ext cx="1473200" cy="3302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700" b="0" i="0">
                <a:solidFill>
                  <a:srgbClr val="1A1A1A"/>
                </a:solidFill>
                <a:latin typeface="Roboto"/>
              </a:rPr>
              <a:t>Acumulado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25600" y="4826000"/>
            <a:ext cx="1473200" cy="3302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700" b="0" i="0">
                <a:solidFill>
                  <a:srgbClr val="1A1A1A"/>
                </a:solidFill>
                <a:latin typeface="Roboto"/>
              </a:rPr>
              <a:t>Año del último fuego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75000" y="4826000"/>
            <a:ext cx="1473200" cy="330200"/>
          </a:xfrm>
          <a:prstGeom prst="roundRect">
            <a:avLst>
              <a:gd name="adj" fmla="val 14000"/>
            </a:avLst>
          </a:prstGeom>
          <a:solidFill>
            <a:srgbClr val="BCBCBC"/>
          </a:solidFill>
          <a:ln>
            <a:noFill/>
          </a:ln>
          <a:effectLst/>
        </p:spPr>
        <p:txBody>
          <a:bodyPr rtlCol="0" anchor="ctr" wrap="square" lIns="76200" rIns="76200" tIns="38100" bIns="38100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sz="700" b="0" i="0">
                <a:solidFill>
                  <a:srgbClr val="1A1A1A"/>
                </a:solidFill>
                <a:latin typeface="Roboto"/>
              </a:rPr>
              <a:t>Tamaño de la cicatriz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" y="5232400"/>
            <a:ext cx="4572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600" b="0" i="1">
                <a:solidFill>
                  <a:srgbClr val="6B6B6B"/>
                </a:solidFill>
                <a:latin typeface="Roboto"/>
              </a:rPr>
              <a:t>+ base vectorial: cada incendio como poligono, con su probabilidad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920066" y="3860800"/>
            <a:ext cx="0" cy="393700"/>
          </a:xfrm>
          <a:prstGeom prst="line">
            <a:avLst/>
          </a:prstGeom>
          <a:ln w="12700">
            <a:solidFill>
              <a:srgbClr val="F9795D"/>
            </a:solidFill>
            <a:tailEnd type="triangle" w="med" len="med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