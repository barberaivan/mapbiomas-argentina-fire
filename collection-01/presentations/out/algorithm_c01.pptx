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724400" cy="5308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" y="88900"/>
            <a:ext cx="4572000" cy="1358900"/>
          </a:xfrm>
          <a:prstGeom prst="roundRect">
            <a:avLst>
              <a:gd name="adj" fmla="val 6000"/>
            </a:avLst>
          </a:prstGeom>
          <a:solidFill>
            <a:srgbClr val="DDD0E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1511300"/>
            <a:ext cx="4572000" cy="1054100"/>
          </a:xfrm>
          <a:prstGeom prst="roundRect">
            <a:avLst>
              <a:gd name="adj" fmla="val 6000"/>
            </a:avLst>
          </a:prstGeom>
          <a:solidFill>
            <a:srgbClr val="F1D7E4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" y="2628900"/>
            <a:ext cx="4572000" cy="1358900"/>
          </a:xfrm>
          <a:prstGeom prst="roundRect">
            <a:avLst>
              <a:gd name="adj" fmla="val 6000"/>
            </a:avLst>
          </a:prstGeom>
          <a:solidFill>
            <a:srgbClr val="FEE4DF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" y="4051300"/>
            <a:ext cx="4572000" cy="1168400"/>
          </a:xfrm>
          <a:prstGeom prst="roundRect">
            <a:avLst>
              <a:gd name="adj" fmla="val 6000"/>
            </a:avLst>
          </a:prstGeom>
          <a:solidFill>
            <a:srgbClr val="D8D8D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" y="114300"/>
            <a:ext cx="4495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54137D"/>
                </a:solidFill>
                <a:latin typeface="Roboto"/>
              </a:rPr>
              <a:t>1  SPECTRAL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" y="292100"/>
            <a:ext cx="1413933" cy="469900"/>
          </a:xfrm>
          <a:prstGeom prst="roundRect">
            <a:avLst>
              <a:gd name="adj" fmla="val 14000"/>
            </a:avLst>
          </a:prstGeom>
          <a:solidFill>
            <a:srgbClr val="C5AFD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Landsat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6 optical bands, 11 indices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" y="889000"/>
            <a:ext cx="1413933" cy="469900"/>
          </a:xfrm>
          <a:prstGeom prst="roundRect">
            <a:avLst>
              <a:gd name="adj" fmla="val 14000"/>
            </a:avLst>
          </a:prstGeom>
          <a:solidFill>
            <a:srgbClr val="C5AFD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MapBiomas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Land cover and previous-year mosaic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55233" y="469900"/>
            <a:ext cx="1413933" cy="711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4137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Probabilistic classifier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0766" y="469900"/>
            <a:ext cx="1413933" cy="711200"/>
          </a:xfrm>
          <a:prstGeom prst="roundRect">
            <a:avLst>
              <a:gd name="adj" fmla="val 14000"/>
            </a:avLst>
          </a:prstGeom>
          <a:solidFill>
            <a:srgbClr val="54137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FFFFFF"/>
                </a:solidFill>
                <a:latin typeface="Roboto"/>
              </a:rPr>
              <a:t>Burn probability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FFFFFF"/>
                </a:solidFill>
                <a:latin typeface="Roboto"/>
              </a:rPr>
              <a:t>per pixel and 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3633" y="527050"/>
            <a:ext cx="101600" cy="15621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1553633" y="967739"/>
            <a:ext cx="101600" cy="156211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3069166" y="8255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52400" y="1536700"/>
            <a:ext cx="4495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B73779"/>
                </a:solidFill>
                <a:latin typeface="Roboto"/>
              </a:rPr>
              <a:t>2  TEMPORAL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700" y="1714500"/>
            <a:ext cx="1413933" cy="762000"/>
          </a:xfrm>
          <a:prstGeom prst="roundRect">
            <a:avLst>
              <a:gd name="adj" fmla="val 14000"/>
            </a:avLst>
          </a:prstGeom>
          <a:solidFill>
            <a:srgbClr val="E7BBD1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Time series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all observations of the pixel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5233" y="1714500"/>
            <a:ext cx="1413933" cy="76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73779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Annual summary of the series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per pixel and year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70766" y="1714500"/>
            <a:ext cx="1413933" cy="762000"/>
          </a:xfrm>
          <a:prstGeom prst="roundRect">
            <a:avLst>
              <a:gd name="adj" fmla="val 14000"/>
            </a:avLst>
          </a:prstGeom>
          <a:solidFill>
            <a:srgbClr val="B73779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FFFFFF"/>
                </a:solidFill>
                <a:latin typeface="Roboto"/>
              </a:rPr>
              <a:t>Annual metrics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FFFFFF"/>
                </a:solidFill>
                <a:latin typeface="Roboto"/>
              </a:rPr>
              <a:t>high prob. - abrupt rise -
persistence - 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53633" y="20955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3069166" y="20955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3877733" y="825500"/>
            <a:ext cx="0" cy="654050"/>
          </a:xfrm>
          <a:prstGeom prst="line">
            <a:avLst/>
          </a:prstGeom>
          <a:ln w="12700">
            <a:solidFill>
              <a:srgbClr val="54137D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1375833" y="1479550"/>
            <a:ext cx="2501900" cy="0"/>
          </a:xfrm>
          <a:prstGeom prst="line">
            <a:avLst/>
          </a:prstGeom>
          <a:ln w="12700">
            <a:solidFill>
              <a:srgbClr val="54137D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1375833" y="1479550"/>
            <a:ext cx="0" cy="234950"/>
          </a:xfrm>
          <a:prstGeom prst="line">
            <a:avLst/>
          </a:prstGeom>
          <a:ln w="12700">
            <a:solidFill>
              <a:srgbClr val="54137D"/>
            </a:solidFill>
            <a:tailEnd type="triangl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152400" y="2654300"/>
            <a:ext cx="4495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F9795D"/>
                </a:solidFill>
                <a:latin typeface="Roboto"/>
              </a:rPr>
              <a:t>3  SPATIAL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9700" y="2832100"/>
            <a:ext cx="1413933" cy="469900"/>
          </a:xfrm>
          <a:prstGeom prst="roundRect">
            <a:avLst>
              <a:gd name="adj" fmla="val 14000"/>
            </a:avLst>
          </a:prstGeom>
          <a:solidFill>
            <a:srgbClr val="FDD1C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Seeds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clearly burned pixels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9700" y="3429000"/>
            <a:ext cx="1413933" cy="469900"/>
          </a:xfrm>
          <a:prstGeom prst="roundRect">
            <a:avLst>
              <a:gd name="adj" fmla="val 14000"/>
            </a:avLst>
          </a:prstGeom>
          <a:solidFill>
            <a:srgbClr val="FDD1C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Candidates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plausibly burned pixels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55233" y="2832100"/>
            <a:ext cx="1413933" cy="469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9795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Region growing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SNIC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55233" y="3429000"/>
            <a:ext cx="1413933" cy="469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9795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Object classifier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shape, size, vegetation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70766" y="3009900"/>
            <a:ext cx="1413933" cy="711200"/>
          </a:xfrm>
          <a:prstGeom prst="roundRect">
            <a:avLst>
              <a:gd name="adj" fmla="val 14000"/>
            </a:avLst>
          </a:prstGeom>
          <a:solidFill>
            <a:srgbClr val="F9795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FFFFFF"/>
                </a:solidFill>
                <a:latin typeface="Roboto"/>
              </a:rPr>
              <a:t>Fire scars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FFFFFF"/>
                </a:solidFill>
                <a:latin typeface="Roboto"/>
              </a:rPr>
              <a:t>1.01 M fires, 1999-2025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53633" y="306705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553633" y="3225800"/>
            <a:ext cx="101600" cy="43815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362199" y="3302000"/>
            <a:ext cx="0" cy="1270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069166" y="3507740"/>
            <a:ext cx="101600" cy="15621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3877733" y="2476500"/>
            <a:ext cx="0" cy="120650"/>
          </a:xfrm>
          <a:prstGeom prst="line">
            <a:avLst/>
          </a:prstGeom>
          <a:ln w="12700">
            <a:solidFill>
              <a:srgbClr val="B73779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>
            <a:off x="1375833" y="2597150"/>
            <a:ext cx="2501900" cy="0"/>
          </a:xfrm>
          <a:prstGeom prst="line">
            <a:avLst/>
          </a:prstGeom>
          <a:ln w="12700">
            <a:solidFill>
              <a:srgbClr val="B7377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375833" y="2597150"/>
            <a:ext cx="0" cy="234950"/>
          </a:xfrm>
          <a:prstGeom prst="line">
            <a:avLst/>
          </a:prstGeom>
          <a:ln w="12700">
            <a:solidFill>
              <a:srgbClr val="B73779"/>
            </a:solidFill>
            <a:tailEnd type="triangle" w="med" len="med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152400" y="4076700"/>
            <a:ext cx="44958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3A3A3A"/>
                </a:solidFill>
                <a:latin typeface="Roboto"/>
              </a:rPr>
              <a:t>PRODUCTS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9700" y="4254500"/>
            <a:ext cx="1430866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Annual burned area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6766" y="4254500"/>
            <a:ext cx="1430866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Month of burn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53833" y="4254500"/>
            <a:ext cx="1430866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Frequency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9700" y="4635500"/>
            <a:ext cx="1430866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Accumulated area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6766" y="4635500"/>
            <a:ext cx="1430866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Year of last fire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53833" y="4635500"/>
            <a:ext cx="1430866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Scar size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700" y="5003800"/>
            <a:ext cx="444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00" b="0" i="1">
                <a:solidFill>
                  <a:srgbClr val="6B6B6B"/>
                </a:solidFill>
                <a:latin typeface="Roboto"/>
              </a:rPr>
              <a:t>+ vector layer: each fire as a polygon, with its probability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877733" y="3721100"/>
            <a:ext cx="0" cy="342900"/>
          </a:xfrm>
          <a:prstGeom prst="line">
            <a:avLst/>
          </a:prstGeom>
          <a:ln w="12700">
            <a:solidFill>
              <a:srgbClr val="F9795D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